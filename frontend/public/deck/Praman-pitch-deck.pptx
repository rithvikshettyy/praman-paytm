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Praman stops avoidable claim rejections before they happen and sends each question to the party that owes the answer. The platform pre-dates the hackathon and is disclosed as such.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reasons that are knowable up front. The problem shows up after the claim is paid for and filed. Nobody warned them in advance.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the customer asks the distributor even when the insurer owns the answer. With Praman the question goes straight to the party that owes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 engine before filing; router to the owner; console for the distributor. Praman does not rank, predict approval, score credit or file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journeys on web, WhatsApp and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Sarvam voice agent holds the call; every answer comes from Praman through one HTTP tool. Only call status and length are recorded, never the transcript.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to conversation to classifier; then RAG for questions, engine for pre-decision, router for grievances; every step writes an event; the console reads events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Allowlisted https feeds only, title and summary only, refreshed hourly, kept apart from policy and regulation, never verified, never feeds the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Voice note in Marathi plus a policy and a bill. The engine computes the room-cap cut; a model never does the arithmetic. Values are from the labelled example policy and bill.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Paper checks use only confident reads. The split is arithmetic in the pure engine, marked as not an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File; do not file yet with the date it stops blocking; file with a known deduction. A block is never 'give up': it is a written coverage query that starts a clock.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rules, each with blocked, clear and missing-fact tests. The engine has no network, LLM, randomness, clock or I/O; a test reads its source to prove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fact starts as not known. The engine holds the verdict and asks the customer.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Photos are matched to six slots by OCR keywords and caption words, in English, Hindi and Marathi. Missing slots are asked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owner has its own ladder and clock. Windows are UNVERIFIED and badged unless a source is named.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case: 72 months of continuous cover. After 60 months the insurer cannot reject for non-disclosure unless it proves fraud. Draft is read back in her language and needs her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approval and consent are needed. The letter is redacted, signed with a shared secret, and marked sent only after n8n reports delivery. Sent never means the insurer received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Consent-based. Email and dates go to n8n only with her yes. The email says the premium may be due; Praman cannot see payments.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tabs: Cases and Complaints. A complaint is registered only on her yes and is never sent to the insurer. The agent brief is one English screen with no phone number or file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Amounts and dates are held fixed; the name Praman is never translated. Voice notes become text to check; replies can be spoken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Consent first, masking before egress, fields not files, delete everything works, verified or badged, nothing is filed.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1206 backend tests pass, none touch the network. Next items are not claimed.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Stop the rejection before it happens, and send every question to the party that owes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45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FD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FINANCIAL JOURNEYS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805672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D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Praman · प्रमाण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Praman</a:t>
            </a:r>
            <a:endParaRPr lang="en-US" sz="8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651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प्रमाण </a:t>
            </a:r>
            <a:pPr indent="0" marL="0">
              <a:buNone/>
            </a:pPr>
            <a:r>
              <a:rPr lang="en-US" sz="3200" dirty="0">
                <a:solidFill>
                  <a:srgbClr val="9FD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proof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5661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3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avoidable claim rejections before they happen, and sends every question to the party that actually owes the answer.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663440"/>
            <a:ext cx="2011680" cy="384048"/>
          </a:xfrm>
          <a:prstGeom prst="rect">
            <a:avLst/>
          </a:prstGeom>
          <a:solidFill>
            <a:srgbClr val="1E5B4C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HackOverFlow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788920" y="4663440"/>
            <a:ext cx="2011680" cy="384048"/>
          </a:xfrm>
          <a:prstGeom prst="rect">
            <a:avLst/>
          </a:prstGeom>
          <a:solidFill>
            <a:srgbClr val="1E5B4C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Rithvik Shetty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937760" y="4663440"/>
            <a:ext cx="2011680" cy="384048"/>
          </a:xfrm>
          <a:prstGeom prst="rect">
            <a:avLst/>
          </a:prstGeom>
          <a:solidFill>
            <a:srgbClr val="1E5B4C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Vinay Pokharkar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 rot="-240000">
            <a:off x="8503920" y="1554480"/>
            <a:ext cx="3017520" cy="2011680"/>
          </a:xfrm>
          <a:prstGeom prst="roundRect">
            <a:avLst>
              <a:gd name="adj" fmla="val 4545"/>
            </a:avLst>
          </a:prstGeom>
          <a:solidFill>
            <a:srgbClr val="164537"/>
          </a:solidFill>
          <a:ln w="38100">
            <a:solidFill>
              <a:srgbClr val="E9A98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 rot="-240000">
            <a:off x="8503920" y="155448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C3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WITH 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4C3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DEDUCTION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4C3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CASE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5486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D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Praman platform pre-dates this hackathon and is disclosed as such. The claim readiness, routing and console modules are this build. All data in this deck is labelled example data.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Paytm Build for India hackathon (AI-Powered Financial Journeys track). Not affiliated with or endorsed by Paytm.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08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claim is cut for reasons visible before filing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805672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Praman · प्रमाण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640080" y="2103120"/>
            <a:ext cx="2521458" cy="3108960"/>
          </a:xfrm>
          <a:prstGeom prst="roundRect">
            <a:avLst>
              <a:gd name="adj" fmla="val 3626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2377440"/>
            <a:ext cx="548640" cy="548640"/>
          </a:xfrm>
          <a:prstGeom prst="ellipse">
            <a:avLst/>
          </a:prstGeom>
          <a:solidFill>
            <a:srgbClr val="F8E8E4"/>
          </a:solidFill>
          <a:ln w="12700">
            <a:solidFill>
              <a:srgbClr val="F8E8E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3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063240"/>
            <a:ext cx="1972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Waiting period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794760"/>
            <a:ext cx="19728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treatment is still inside the wait. The policy is too young.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3435858" y="2103120"/>
            <a:ext cx="2521458" cy="3108960"/>
          </a:xfrm>
          <a:prstGeom prst="roundRect">
            <a:avLst>
              <a:gd name="adj" fmla="val 3626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710178" y="2377440"/>
            <a:ext cx="548640" cy="548640"/>
          </a:xfrm>
          <a:prstGeom prst="ellipse">
            <a:avLst/>
          </a:prstGeom>
          <a:solidFill>
            <a:srgbClr val="F8E8E4"/>
          </a:solidFill>
          <a:ln w="12700">
            <a:solidFill>
              <a:srgbClr val="F8E8E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10178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3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3710178" y="3063240"/>
            <a:ext cx="1972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Excluded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3710178" y="3794760"/>
            <a:ext cx="19728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procedure is on the policy's list of things it never pays for.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6231636" y="2103120"/>
            <a:ext cx="2521458" cy="3108960"/>
          </a:xfrm>
          <a:prstGeom prst="roundRect">
            <a:avLst>
              <a:gd name="adj" fmla="val 3626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505956" y="2377440"/>
            <a:ext cx="548640" cy="548640"/>
          </a:xfrm>
          <a:prstGeom prst="ellipse">
            <a:avLst/>
          </a:prstGeom>
          <a:solidFill>
            <a:srgbClr val="F8EEDC"/>
          </a:solidFill>
          <a:ln w="12700">
            <a:solidFill>
              <a:srgbClr val="F8EED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05956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5F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505956" y="3063240"/>
            <a:ext cx="1972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 above the cap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6505956" y="3794760"/>
            <a:ext cx="19728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room costs more than the limit, so charges are cut in proportion.</a:t>
            </a:r>
            <a:endParaRPr lang="en-US" sz="1500" dirty="0"/>
          </a:p>
        </p:txBody>
      </p:sp>
      <p:sp>
        <p:nvSpPr>
          <p:cNvPr id="21" name="card"/>
          <p:cNvSpPr/>
          <p:nvPr/>
        </p:nvSpPr>
        <p:spPr>
          <a:xfrm>
            <a:off x="9027414" y="2103120"/>
            <a:ext cx="2521458" cy="3108960"/>
          </a:xfrm>
          <a:prstGeom prst="roundRect">
            <a:avLst>
              <a:gd name="adj" fmla="val 3626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301734" y="2377440"/>
            <a:ext cx="548640" cy="548640"/>
          </a:xfrm>
          <a:prstGeom prst="ellipse">
            <a:avLst/>
          </a:prstGeom>
          <a:solidFill>
            <a:srgbClr val="F8E8E4"/>
          </a:solidFill>
          <a:ln w="12700">
            <a:solidFill>
              <a:srgbClr val="F8E8E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301734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3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301734" y="3063240"/>
            <a:ext cx="1972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papers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9301734" y="3794760"/>
            <a:ext cx="19728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discharge summary, a bill, an ID, still not in the file.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40080" y="5486400"/>
            <a:ext cx="10908792" cy="685800"/>
          </a:xfrm>
          <a:prstGeom prst="roundRect">
            <a:avLst>
              <a:gd name="adj" fmla="val 10667"/>
            </a:avLst>
          </a:prstGeom>
          <a:solidFill>
            <a:srgbClr val="164537"/>
          </a:solidFill>
          <a:ln w="12700">
            <a:solidFill>
              <a:srgbClr val="16453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548640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shows up after the claim is paid for and filed.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8503920" y="5614416"/>
            <a:ext cx="2770632" cy="429768"/>
          </a:xfrm>
          <a:prstGeom prst="rect">
            <a:avLst/>
          </a:prstGeom>
          <a:solidFill>
            <a:srgbClr val="1E5B4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warned them in advance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DISTRIBUTOR'S PROBLEM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08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desks became a relay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805672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Praman · प्रमाण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530352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22402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914400" y="292608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5A6763"/>
          </a:solidFill>
          <a:ln w="12700">
            <a:solidFill>
              <a:srgbClr val="5A676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2926080"/>
            <a:ext cx="14630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377440" y="292608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2697480" y="292608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9A5F0C"/>
          </a:solidFill>
          <a:ln w="12700">
            <a:solidFill>
              <a:srgbClr val="9A5F0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697480" y="2926080"/>
            <a:ext cx="14630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desk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160520" y="292608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4480560" y="292608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1C2724"/>
          </a:solidFill>
          <a:ln w="12700">
            <a:solidFill>
              <a:srgbClr val="1C272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80560" y="2926080"/>
            <a:ext cx="14630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40233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paid the distributor, so the distributor gets the question, even when the insurer owns the answer. Agents chase the insurer on the customer's behalf.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217920" y="2103120"/>
            <a:ext cx="5303520" cy="3566160"/>
          </a:xfrm>
          <a:prstGeom prst="roundRect">
            <a:avLst>
              <a:gd name="adj" fmla="val 2564"/>
            </a:avLst>
          </a:prstGeom>
          <a:solidFill>
            <a:srgbClr val="E5EFEA"/>
          </a:solidFill>
          <a:ln w="12700">
            <a:solidFill>
              <a:srgbClr val="1E5B4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92240" y="22402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5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Praman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6492240" y="292608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5A6763"/>
          </a:solidFill>
          <a:ln w="12700">
            <a:solidFill>
              <a:srgbClr val="5A676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92240" y="2926080"/>
            <a:ext cx="14630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955280" y="292608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22" name="Shape 19"/>
          <p:cNvSpPr/>
          <p:nvPr/>
        </p:nvSpPr>
        <p:spPr>
          <a:xfrm>
            <a:off x="8275320" y="292608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1E5B4C"/>
          </a:solidFill>
          <a:ln w="12700">
            <a:solidFill>
              <a:srgbClr val="1E5B4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75320" y="2926080"/>
            <a:ext cx="14630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Praman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9738360" y="292608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25" name="Shape 22"/>
          <p:cNvSpPr/>
          <p:nvPr/>
        </p:nvSpPr>
        <p:spPr>
          <a:xfrm>
            <a:off x="10058400" y="292608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1C2724"/>
          </a:solidFill>
          <a:ln w="12700">
            <a:solidFill>
              <a:srgbClr val="1C272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058400" y="2926080"/>
            <a:ext cx="14630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492240" y="40233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Praman sends the question straight to the party that owes the answer, by name. The ticket never reaches the distributor.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PRAMAN DOES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08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things, each one tested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805672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Praman · प्रमाण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640080" y="2103120"/>
            <a:ext cx="3453384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2377440"/>
            <a:ext cx="548640" cy="548640"/>
          </a:xfrm>
          <a:prstGeom prst="ellipse">
            <a:avLst/>
          </a:prstGeom>
          <a:solidFill>
            <a:srgbClr val="E5EFEA"/>
          </a:solidFill>
          <a:ln w="12700">
            <a:solidFill>
              <a:srgbClr val="E5EF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063240"/>
            <a:ext cx="2904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Stops avoidable rejections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794760"/>
            <a:ext cx="2904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engine checks the claim against the policy and bill before filing. One of three answers: file, do not file yet, or file with a known deduction.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4367784" y="2103120"/>
            <a:ext cx="3453384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42104" y="2377440"/>
            <a:ext cx="548640" cy="548640"/>
          </a:xfrm>
          <a:prstGeom prst="ellipse">
            <a:avLst/>
          </a:prstGeom>
          <a:solidFill>
            <a:srgbClr val="E5EFEA"/>
          </a:solidFill>
          <a:ln w="12700">
            <a:solidFill>
              <a:srgbClr val="E5EF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42104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642104" y="3063240"/>
            <a:ext cx="2904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Sends it to the right party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4642104" y="3794760"/>
            <a:ext cx="2904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router names who owes the answer: insurer, lender or distributor. Each has its own first step and its own clock.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8095488" y="2103120"/>
            <a:ext cx="3453384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369808" y="2377440"/>
            <a:ext cx="548640" cy="548640"/>
          </a:xfrm>
          <a:prstGeom prst="ellipse">
            <a:avLst/>
          </a:prstGeom>
          <a:solidFill>
            <a:srgbClr val="E5EFEA"/>
          </a:solidFill>
          <a:ln w="12700">
            <a:solidFill>
              <a:srgbClr val="E5EF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69808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8369808" y="3063240"/>
            <a:ext cx="2904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Shows the distributor what needs it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8369808" y="3794760"/>
            <a:ext cx="2904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console lists the cases that need the distributor and the complaints waiting for a person, read from recorded events only.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5577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not do: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2651760" y="5577840"/>
            <a:ext cx="2553005" cy="365760"/>
          </a:xfrm>
          <a:prstGeom prst="rect">
            <a:avLst/>
          </a:prstGeom>
          <a:solidFill>
            <a:srgbClr val="F8E8E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or recommend a policy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341925" y="5577840"/>
            <a:ext cx="1711757" cy="365760"/>
          </a:xfrm>
          <a:prstGeom prst="rect">
            <a:avLst/>
          </a:prstGeom>
          <a:solidFill>
            <a:srgbClr val="F8E8E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approval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190842" y="5577840"/>
            <a:ext cx="1463040" cy="365760"/>
          </a:xfrm>
          <a:prstGeom prst="rect">
            <a:avLst/>
          </a:prstGeom>
          <a:solidFill>
            <a:srgbClr val="F8E8E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credit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791042" y="5577840"/>
            <a:ext cx="2637130" cy="365760"/>
          </a:xfrm>
          <a:prstGeom prst="rect">
            <a:avLst/>
          </a:prstGeom>
          <a:solidFill>
            <a:srgbClr val="F8E8E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anything automatically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CUSTOMER STARTS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08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a start. Praman does the rest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805672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Praman · प्रमाण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640080" y="2103120"/>
            <a:ext cx="3453384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2377440"/>
            <a:ext cx="548640" cy="548640"/>
          </a:xfrm>
          <a:prstGeom prst="ellipse">
            <a:avLst/>
          </a:prstGeom>
          <a:solidFill>
            <a:srgbClr val="E5EFEA"/>
          </a:solidFill>
          <a:ln w="12700">
            <a:solidFill>
              <a:srgbClr val="E5EF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063240"/>
            <a:ext cx="2904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a policy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794760"/>
            <a:ext cx="2904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Tap-to-answer questions: who is covered (parents too), ages, any illness, cover or payout wanted, years. Then options found online, unranked, and what to check before buying.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4367784" y="2103120"/>
            <a:ext cx="3453384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42104" y="2377440"/>
            <a:ext cx="548640" cy="548640"/>
          </a:xfrm>
          <a:prstGeom prst="ellipse">
            <a:avLst/>
          </a:prstGeom>
          <a:solidFill>
            <a:srgbClr val="E5EFEA"/>
          </a:solidFill>
          <a:ln w="12700">
            <a:solidFill>
              <a:srgbClr val="E5EF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42104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642104" y="3063240"/>
            <a:ext cx="2904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my policy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4642104" y="3794760"/>
            <a:ext cx="2904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PDF or a photo and ask anything. Each answer comes from the document or the rules, with its page. If it is not there, Praman says so.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8095488" y="2103120"/>
            <a:ext cx="3453384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369808" y="2377440"/>
            <a:ext cx="548640" cy="548640"/>
          </a:xfrm>
          <a:prstGeom prst="ellipse">
            <a:avLst/>
          </a:prstGeom>
          <a:solidFill>
            <a:srgbClr val="E5EFEA"/>
          </a:solidFill>
          <a:ln w="12700">
            <a:solidFill>
              <a:srgbClr val="E5EF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69808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8369808" y="3063240"/>
            <a:ext cx="2904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Complaint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8369808" y="3794760"/>
            <a:ext cx="2904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went wrong, send the policy or just its number. If Praman cannot settle it, or she asks for a person, the complaint is registered with how to reach her.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5669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design: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2651760" y="5669280"/>
            <a:ext cx="3814877" cy="365760"/>
          </a:xfrm>
          <a:prstGeom prst="rect">
            <a:avLst/>
          </a:prstGeom>
          <a:solidFill>
            <a:srgbClr val="E5EFEA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kind of cover goes to web search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603797" y="5669280"/>
            <a:ext cx="2216506" cy="365760"/>
          </a:xfrm>
          <a:prstGeom prst="rect">
            <a:avLst/>
          </a:prstGeom>
          <a:solidFill>
            <a:srgbClr val="E5EFEA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kept in memory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8957462" y="5669280"/>
            <a:ext cx="2468880" cy="365760"/>
          </a:xfrm>
          <a:prstGeom prst="rect">
            <a:avLst/>
          </a:prstGeom>
          <a:solidFill>
            <a:srgbClr val="E5EFEA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complaint needs her yes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EVERYONE TYPES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08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 can just call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805672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Praman · प्रमाण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640080" y="2103120"/>
            <a:ext cx="2521458" cy="3108960"/>
          </a:xfrm>
          <a:prstGeom prst="roundRect">
            <a:avLst>
              <a:gd name="adj" fmla="val 3626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2377440"/>
            <a:ext cx="548640" cy="548640"/>
          </a:xfrm>
          <a:prstGeom prst="ellipse">
            <a:avLst/>
          </a:prstGeom>
          <a:solidFill>
            <a:srgbClr val="E5EFEA"/>
          </a:solidFill>
          <a:ln w="12700">
            <a:solidFill>
              <a:srgbClr val="E5EF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063240"/>
            <a:ext cx="1972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voice agent holds the call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794760"/>
            <a:ext cx="19728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greets her, listens, speaks her language and handles interruptions. It says it is an AI.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3435858" y="2103120"/>
            <a:ext cx="2521458" cy="3108960"/>
          </a:xfrm>
          <a:prstGeom prst="roundRect">
            <a:avLst>
              <a:gd name="adj" fmla="val 3626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710178" y="2377440"/>
            <a:ext cx="548640" cy="548640"/>
          </a:xfrm>
          <a:prstGeom prst="ellipse">
            <a:avLst/>
          </a:prstGeom>
          <a:solidFill>
            <a:srgbClr val="E5EFEA"/>
          </a:solidFill>
          <a:ln w="12700">
            <a:solidFill>
              <a:srgbClr val="E5EF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10178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3710178" y="3063240"/>
            <a:ext cx="1972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Praman answers every turn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3710178" y="3794760"/>
            <a:ext cx="19728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conversation as the chat and WhatsApp: find a policy, check my policy, complaint.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6231636" y="2103120"/>
            <a:ext cx="2521458" cy="3108960"/>
          </a:xfrm>
          <a:prstGeom prst="roundRect">
            <a:avLst>
              <a:gd name="adj" fmla="val 3626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505956" y="2377440"/>
            <a:ext cx="548640" cy="548640"/>
          </a:xfrm>
          <a:prstGeom prst="ellipse">
            <a:avLst/>
          </a:prstGeom>
          <a:solidFill>
            <a:srgbClr val="E5EFEA"/>
          </a:solidFill>
          <a:ln w="12700">
            <a:solidFill>
              <a:srgbClr val="E5EF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05956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6505956" y="3063240"/>
            <a:ext cx="1972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person, same case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6505956" y="3794760"/>
            <a:ext cx="19728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number is her case. A policy she sent on WhatsApp is the one she is asked about on the phone.</a:t>
            </a:r>
            <a:endParaRPr lang="en-US" sz="1500" dirty="0"/>
          </a:p>
        </p:txBody>
      </p:sp>
      <p:sp>
        <p:nvSpPr>
          <p:cNvPr id="21" name="card"/>
          <p:cNvSpPr/>
          <p:nvPr/>
        </p:nvSpPr>
        <p:spPr>
          <a:xfrm>
            <a:off x="9027414" y="2103120"/>
            <a:ext cx="2521458" cy="3108960"/>
          </a:xfrm>
          <a:prstGeom prst="roundRect">
            <a:avLst>
              <a:gd name="adj" fmla="val 3626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301734" y="2377440"/>
            <a:ext cx="548640" cy="548640"/>
          </a:xfrm>
          <a:prstGeom prst="ellipse">
            <a:avLst/>
          </a:prstGeom>
          <a:solidFill>
            <a:srgbClr val="F8EEDC"/>
          </a:solidFill>
          <a:ln w="12700">
            <a:solidFill>
              <a:srgbClr val="F8EED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301734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5F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9301734" y="3063240"/>
            <a:ext cx="1972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Made to be heard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9301734" y="3794760"/>
            <a:ext cx="19728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replies, no links, no lists, no page numbers. Only that a call happened is recorded, never what was said.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40080" y="5486400"/>
            <a:ext cx="10908792" cy="685800"/>
          </a:xfrm>
          <a:prstGeom prst="roundRect">
            <a:avLst>
              <a:gd name="adj" fmla="val 10667"/>
            </a:avLst>
          </a:prstGeom>
          <a:solidFill>
            <a:srgbClr val="164537"/>
          </a:solidFill>
          <a:ln w="12700">
            <a:solidFill>
              <a:srgbClr val="16453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548640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Praman never rings a number on its own. She calls.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8503920" y="5614416"/>
            <a:ext cx="2770632" cy="429768"/>
          </a:xfrm>
          <a:prstGeom prst="rect">
            <a:avLst/>
          </a:prstGeom>
          <a:solidFill>
            <a:srgbClr val="1E5B4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endpoint can ring a stranger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08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process. Adapters at the edge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805672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Praman · प्रमाण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2834640"/>
            <a:ext cx="18288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2834640"/>
            <a:ext cx="16093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web chat, phone call. 11 languages.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468880" y="3383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2743200" y="2834640"/>
            <a:ext cx="18288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852928" y="2834640"/>
            <a:ext cx="16093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before reading. Delete everything. Checklist.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3383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4846320" y="2834640"/>
            <a:ext cx="18288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956048" y="2834640"/>
            <a:ext cx="16093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question, grievance, pre-decision, plus product.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675120" y="3383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6949440" y="192024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E5EFEA"/>
          </a:solidFill>
          <a:ln w="12700">
            <a:solidFill>
              <a:srgbClr val="D8DDD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059168" y="1920240"/>
            <a:ext cx="2249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→ RAG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only from sources, with a citation. No source, no answer.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949440" y="320040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E5EFEA"/>
          </a:solidFill>
          <a:ln w="12700">
            <a:solidFill>
              <a:srgbClr val="D8DDD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059168" y="3200400"/>
            <a:ext cx="2249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Pre-decision → Engine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AI › confidence gate › pure rule engine › verdict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949440" y="466344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E5EFEA"/>
          </a:solidFill>
          <a:ln w="12700">
            <a:solidFill>
              <a:srgbClr val="D8DDD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059168" y="4663440"/>
            <a:ext cx="2249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Grievance → Router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Insurer, lender or distributor. Draft addressed by name.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9418320" y="3383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19"/>
          <p:cNvSpPr/>
          <p:nvPr/>
        </p:nvSpPr>
        <p:spPr>
          <a:xfrm>
            <a:off x="9692640" y="2651760"/>
            <a:ext cx="1371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802368" y="2651760"/>
            <a:ext cx="1152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log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read, draft and answer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9692640" y="4023360"/>
            <a:ext cx="1371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802368" y="4023360"/>
            <a:ext cx="1152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events only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CURRENT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08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live news layer keeps answers fresh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805672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Praman · प्रमाण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057400"/>
            <a:ext cx="4754880" cy="384048"/>
          </a:xfrm>
          <a:prstGeom prst="rect">
            <a:avLst/>
          </a:prstGeom>
          <a:solidFill>
            <a:srgbClr val="E5EFEA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press release · official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14600"/>
            <a:ext cx="4754880" cy="384048"/>
          </a:xfrm>
          <a:prstGeom prst="rect">
            <a:avLst/>
          </a:prstGeom>
          <a:solidFill>
            <a:srgbClr val="E5EFEA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notification · official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71800"/>
            <a:ext cx="4754880" cy="384048"/>
          </a:xfrm>
          <a:prstGeom prst="rect">
            <a:avLst/>
          </a:prstGeom>
          <a:solidFill>
            <a:srgbClr val="E5EFEA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Times · news outlet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429000"/>
            <a:ext cx="4754880" cy="384048"/>
          </a:xfrm>
          <a:prstGeom prst="rect">
            <a:avLst/>
          </a:prstGeom>
          <a:solidFill>
            <a:srgbClr val="E5EFEA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 · news outlet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3977640"/>
            <a:ext cx="47548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39776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Allowlisted feeds only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only. Title and summary only, no article pages. Refreshed every 60 minutes.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4754880"/>
            <a:ext cx="47548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" y="47548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Keep what matters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Insurance, IRDAI, ombudsman, grievance and similar words. Old items expire after 180 days.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5532120"/>
            <a:ext cx="47548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9808" y="55321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Index as news, never verified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apart from policies and regulation. At most 2 news passages per answer.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852160" y="2057400"/>
            <a:ext cx="56692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80760" y="2194560"/>
            <a:ext cx="5212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regulator said anything about customer complaints?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Reserve Bank has asked banks to tackle repeat customer complaints and fix gaps in their grievance systems, as reported by Economic Times.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9A5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[Economic Times, news 2026-10-02, p.1]  ·  Not yet verified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i="1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from a news or press report. It is not your policy and not the rule itself, so check the original.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5166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852160" y="5166360"/>
            <a:ext cx="2805379" cy="365760"/>
          </a:xfrm>
          <a:prstGeom prst="rect">
            <a:avLst/>
          </a:prstGeom>
          <a:solidFill>
            <a:srgbClr val="E5EFEA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changes the rule engine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5577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0" y="5577840"/>
            <a:ext cx="3057754" cy="365760"/>
          </a:xfrm>
          <a:prstGeom prst="rect">
            <a:avLst/>
          </a:prstGeom>
          <a:solidFill>
            <a:srgbClr val="E5EFEA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as news in every answer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40080" y="5989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852160" y="5989320"/>
            <a:ext cx="2805379" cy="365760"/>
          </a:xfrm>
          <a:prstGeom prst="rect">
            <a:avLst/>
          </a:prstGeom>
          <a:solidFill>
            <a:srgbClr val="F8EEDC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5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IRDAI has no feed: PDFs added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 · CLAIM READINESS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08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family admission: what gets cut?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805672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Praman · प्रमाण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4206240" cy="3931920"/>
          </a:xfrm>
          <a:prstGeom prst="roundRect">
            <a:avLst>
              <a:gd name="adj" fmla="val 5814"/>
            </a:avLst>
          </a:prstGeom>
          <a:solidFill>
            <a:srgbClr val="E9EFE9"/>
          </a:solidFill>
          <a:ln w="38100">
            <a:solidFill>
              <a:srgbClr val="1C272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2103120"/>
            <a:ext cx="4023360" cy="411480"/>
          </a:xfrm>
          <a:prstGeom prst="rect">
            <a:avLst/>
          </a:prstGeom>
          <a:solidFill>
            <a:srgbClr val="164537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Praman · example case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51760"/>
            <a:ext cx="38404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note, in Marathi · 0:12   |   Policy · Hospital bill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200400"/>
            <a:ext cx="3840480" cy="1554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room costs more than the policy allows. About ₹35,625 will be cut from room, doctor and surgery charges. Medicines, tests and implants are not cut.  [Not yet verified]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892040"/>
            <a:ext cx="3840480" cy="8229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room within the limit and nothing is cut. (spoken reply)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212080" y="201168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engine's working, on the example bill · ₹1,33,850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212080" y="2514600"/>
            <a:ext cx="4479646" cy="502920"/>
          </a:xfrm>
          <a:prstGeom prst="rect">
            <a:avLst/>
          </a:prstGeom>
          <a:solidFill>
            <a:srgbClr val="9A5F0C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Deductible ₹95,000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691726" y="2514600"/>
            <a:ext cx="1829714" cy="502920"/>
          </a:xfrm>
          <a:prstGeom prst="rect">
            <a:avLst/>
          </a:prstGeom>
          <a:solidFill>
            <a:srgbClr val="1E5B4C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Exempt ₹38,850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212080" y="306324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Deductible: room, nursing, surgeon, anaesthetist, theatre.  Exempt: pharmacy, consumables, tests, scans, never cut.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212080" y="365760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303520" y="36576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per day</a:t>
            </a: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× ₹5,00,000 = ₹5,000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360920" y="365760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452360" y="36576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quoted per day</a:t>
            </a: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₹8,000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509760" y="365760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601200" y="36576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</a:t>
            </a: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÷ 8,000 = 0.625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212080" y="4663440"/>
            <a:ext cx="6309360" cy="914400"/>
          </a:xfrm>
          <a:prstGeom prst="roundRect">
            <a:avLst>
              <a:gd name="adj" fmla="val 8000"/>
            </a:avLst>
          </a:prstGeom>
          <a:solidFill>
            <a:srgbClr val="164537"/>
          </a:solidFill>
          <a:ln w="12700">
            <a:solidFill>
              <a:srgbClr val="16453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394960" y="4663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₹35,625</a:t>
            </a:r>
            <a:endParaRPr lang="en-US" sz="3200" dirty="0"/>
          </a:p>
        </p:txBody>
      </p:sp>
      <p:sp>
        <p:nvSpPr>
          <p:cNvPr id="23" name="Text 20"/>
          <p:cNvSpPr txBox="1"/>
          <p:nvPr/>
        </p:nvSpPr>
        <p:spPr>
          <a:xfrm>
            <a:off x="7589520" y="46634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(1 − 0.625) × ₹95,000: cut from the deductible heads only. Exempt heads are never reduced.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212080" y="566928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by the pure engine in Python, not by a model. Rule and bill-head table are UNVERIFIED and badged.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INSURER'S QUERY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08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 the mismatch, then split the bill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805672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Praman · प्रमाण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640080" y="2103120"/>
            <a:ext cx="2521458" cy="3108960"/>
          </a:xfrm>
          <a:prstGeom prst="roundRect">
            <a:avLst>
              <a:gd name="adj" fmla="val 3626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2377440"/>
            <a:ext cx="548640" cy="548640"/>
          </a:xfrm>
          <a:prstGeom prst="ellipse">
            <a:avLst/>
          </a:prstGeom>
          <a:solidFill>
            <a:srgbClr val="E5EFEA"/>
          </a:solidFill>
          <a:ln w="12700">
            <a:solidFill>
              <a:srgbClr val="E5EF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063240"/>
            <a:ext cx="1972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Names and dates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794760"/>
            <a:ext cx="19728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against insured names. Admission inside the policy period. Discharge after admission.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3435858" y="2103120"/>
            <a:ext cx="2521458" cy="3108960"/>
          </a:xfrm>
          <a:prstGeom prst="roundRect">
            <a:avLst>
              <a:gd name="adj" fmla="val 3626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710178" y="2377440"/>
            <a:ext cx="548640" cy="548640"/>
          </a:xfrm>
          <a:prstGeom prst="ellipse">
            <a:avLst/>
          </a:prstGeom>
          <a:solidFill>
            <a:srgbClr val="E5EFEA"/>
          </a:solidFill>
          <a:ln w="12700">
            <a:solidFill>
              <a:srgbClr val="E5EF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10178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3710178" y="3063240"/>
            <a:ext cx="1972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 adds up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3710178" y="3794760"/>
            <a:ext cx="19728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total against its own lines, and items insurers usually do not pay, flagged before filing.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6231636" y="2103120"/>
            <a:ext cx="2521458" cy="3108960"/>
          </a:xfrm>
          <a:prstGeom prst="roundRect">
            <a:avLst>
              <a:gd name="adj" fmla="val 3626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505956" y="2377440"/>
            <a:ext cx="548640" cy="548640"/>
          </a:xfrm>
          <a:prstGeom prst="ellipse">
            <a:avLst/>
          </a:prstGeom>
          <a:solidFill>
            <a:srgbClr val="F8EEDC"/>
          </a:solidFill>
          <a:ln w="12700">
            <a:solidFill>
              <a:srgbClr val="F8EED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05956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5F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6505956" y="3063240"/>
            <a:ext cx="1972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pays what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6505956" y="3794760"/>
            <a:ext cx="19728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minus unpaid items, room-cap cut, co-payment, anything above the sum insured: the insurer's share, and hers.</a:t>
            </a:r>
            <a:endParaRPr lang="en-US" sz="1500" dirty="0"/>
          </a:p>
        </p:txBody>
      </p:sp>
      <p:sp>
        <p:nvSpPr>
          <p:cNvPr id="21" name="card"/>
          <p:cNvSpPr/>
          <p:nvPr/>
        </p:nvSpPr>
        <p:spPr>
          <a:xfrm>
            <a:off x="9027414" y="2103120"/>
            <a:ext cx="2521458" cy="3108960"/>
          </a:xfrm>
          <a:prstGeom prst="roundRect">
            <a:avLst>
              <a:gd name="adj" fmla="val 3626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301734" y="2377440"/>
            <a:ext cx="548640" cy="548640"/>
          </a:xfrm>
          <a:prstGeom prst="ellipse">
            <a:avLst/>
          </a:prstGeom>
          <a:solidFill>
            <a:srgbClr val="E5EFEA"/>
          </a:solidFill>
          <a:ln w="12700">
            <a:solidFill>
              <a:srgbClr val="E5EF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301734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9301734" y="3063240"/>
            <a:ext cx="1972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trusted reads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9301734" y="3794760"/>
            <a:ext cx="19728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 below the confidence gate is asked, never used. Nothing is split if the admission is outside the policy.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40080" y="5486400"/>
            <a:ext cx="10908792" cy="685800"/>
          </a:xfrm>
          <a:prstGeom prst="roundRect">
            <a:avLst>
              <a:gd name="adj" fmla="val 10667"/>
            </a:avLst>
          </a:prstGeom>
          <a:solidFill>
            <a:srgbClr val="164537"/>
          </a:solidFill>
          <a:ln w="12700">
            <a:solidFill>
              <a:srgbClr val="16453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548640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arithmetic is in the pure engine. The answer says "not an approval."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8503920" y="5614416"/>
            <a:ext cx="2770632" cy="429768"/>
          </a:xfrm>
          <a:prstGeom prst="rect">
            <a:avLst/>
          </a:prstGeom>
          <a:solidFill>
            <a:srgbClr val="1E5B4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non-payable list: Not yet verified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08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outcomes, not two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805672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Praman · प्रमाण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640080" y="2011680"/>
            <a:ext cx="3453384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2286000"/>
            <a:ext cx="548640" cy="548640"/>
          </a:xfrm>
          <a:prstGeom prst="ellipse">
            <a:avLst/>
          </a:prstGeom>
          <a:solidFill>
            <a:srgbClr val="E5EFEA"/>
          </a:solidFill>
          <a:ln w="12700">
            <a:solidFill>
              <a:srgbClr val="E5EF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5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971800"/>
            <a:ext cx="2904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File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703320"/>
            <a:ext cx="2904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rule blocks the claim. Nothing is cut. Go ahead and file.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clear claim, nothing to fix.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4367784" y="2011680"/>
            <a:ext cx="3453384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42104" y="2286000"/>
            <a:ext cx="548640" cy="548640"/>
          </a:xfrm>
          <a:prstGeom prst="ellipse">
            <a:avLst/>
          </a:prstGeom>
          <a:solidFill>
            <a:srgbClr val="F8EEDC"/>
          </a:solidFill>
          <a:ln w="12700">
            <a:solidFill>
              <a:srgbClr val="F8EED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42104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5F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642104" y="2971800"/>
            <a:ext cx="2904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Do not file yet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4642104" y="3703320"/>
            <a:ext cx="2904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blocks it today, and the engine says when it stops blocking.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waiting period unmet, "You can claim from [date]".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8095488" y="2011680"/>
            <a:ext cx="3453384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369808" y="2286000"/>
            <a:ext cx="548640" cy="548640"/>
          </a:xfrm>
          <a:prstGeom prst="ellipse">
            <a:avLst/>
          </a:prstGeom>
          <a:solidFill>
            <a:srgbClr val="F8E8E4"/>
          </a:solidFill>
          <a:ln w="12700">
            <a:solidFill>
              <a:srgbClr val="F8E8E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69808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3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369808" y="2971800"/>
            <a:ext cx="2904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File with a known deduction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8369808" y="3703320"/>
            <a:ext cx="2904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will be paid, but part will be cut. The amount and the reason are known before filing.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demo: ₹35,625 on the example bill.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40080" y="5486400"/>
            <a:ext cx="10908792" cy="685800"/>
          </a:xfrm>
          <a:prstGeom prst="roundRect">
            <a:avLst>
              <a:gd name="adj" fmla="val 10667"/>
            </a:avLst>
          </a:prstGeom>
          <a:solidFill>
            <a:srgbClr val="164537"/>
          </a:solidFill>
          <a:ln w="12700">
            <a:solidFill>
              <a:srgbClr val="16453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14400" y="548640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action on a block is never "give up": it is a written coverage query to the insurer that starts a clock.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 CAN TRUST A REFUSAL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08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"no" is a tested function, not an opinion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805672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Praman · प्रमाण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67665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B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B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B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7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waiting_period_unmet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duration_unmet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 · gives the 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7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procedure_excluded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flag_true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7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policy_lapsed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flag_false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7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room_cap_breach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threshold_breach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known deduction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7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documents_incomplete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threshold_short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 · counts the 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7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ped_wait_exceeds_cap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threshold_breach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for the letter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7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moratorium_reached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duration_met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for the letter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680960" y="2011680"/>
            <a:ext cx="3840480" cy="2194560"/>
          </a:xfrm>
          <a:prstGeom prst="roundRect">
            <a:avLst>
              <a:gd name="adj" fmla="val 4167"/>
            </a:avLst>
          </a:prstGeom>
          <a:solidFill>
            <a:srgbClr val="164537"/>
          </a:solidFill>
          <a:ln w="12700">
            <a:solidFill>
              <a:srgbClr val="164537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909560" y="21031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F6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engine is pure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network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randomness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clock, no I/O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7680960" y="4389120"/>
            <a:ext cx="38404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909560" y="44805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rule ships without three tests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7909560" y="5212080"/>
            <a:ext cx="1097280" cy="411480"/>
          </a:xfrm>
          <a:prstGeom prst="rect">
            <a:avLst/>
          </a:prstGeom>
          <a:solidFill>
            <a:srgbClr val="F8E8E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9098280" y="5212080"/>
            <a:ext cx="1097280" cy="411480"/>
          </a:xfrm>
          <a:prstGeom prst="rect">
            <a:avLst/>
          </a:prstGeom>
          <a:solidFill>
            <a:srgbClr val="E5EFEA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0287000" y="5212080"/>
            <a:ext cx="1097280" cy="411480"/>
          </a:xfrm>
          <a:prstGeom prst="rect">
            <a:avLst/>
          </a:prstGeom>
          <a:solidFill>
            <a:srgbClr val="F8EEDC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5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fact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BY DEFAULT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08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missing fact is never a "no"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805672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Praman · प्रमाण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783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 starts as "not known". The engine will not guess the permissive answer. It holds the verdict and asks the customer.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40080" y="2651760"/>
            <a:ext cx="28346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6517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7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months_held</a:t>
            </a:r>
            <a:endParaRPr lang="en-US" sz="12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known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0" y="2651760"/>
            <a:ext cx="28346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94760" y="26517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7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wait_months</a:t>
            </a:r>
            <a:endParaRPr lang="en-US" sz="12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known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3611880"/>
            <a:ext cx="28346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6118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7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room_quoted_per_day</a:t>
            </a:r>
            <a:endParaRPr lang="en-US" sz="12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known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57600" y="3611880"/>
            <a:ext cx="28346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794760" y="36118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7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room_cap_per_day</a:t>
            </a:r>
            <a:endParaRPr lang="en-US" sz="12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known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" y="4572000"/>
            <a:ext cx="28346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4572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7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documents_collected</a:t>
            </a:r>
            <a:endParaRPr lang="en-US" sz="12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known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657600" y="4572000"/>
            <a:ext cx="28346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794760" y="4572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7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policy_in_force</a:t>
            </a:r>
            <a:endParaRPr lang="en-US" sz="12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known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040880" y="2651760"/>
            <a:ext cx="4480560" cy="2743200"/>
          </a:xfrm>
          <a:prstGeom prst="roundRect">
            <a:avLst>
              <a:gd name="adj" fmla="val 3333"/>
            </a:avLst>
          </a:prstGeom>
          <a:solidFill>
            <a:srgbClr val="F8EEDC"/>
          </a:solidFill>
          <a:ln w="19050">
            <a:solidFill>
              <a:srgbClr val="9A5F0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269480" y="274320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9A5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PENDING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need two more answers.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old is the policy, and how long is this treatment's waiting period? Until then there is no verdict, and no assumption.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i="1" dirty="0">
                <a:solidFill>
                  <a:srgbClr val="9A5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the customer, in their language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values. Each value the customer gives (or a document supplies above the confidence gate) is filled in; anything uncertain is asked.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 · THE CHECKLIST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08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checklist that fills itself from photographs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805672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Praman · प्रमाण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194560"/>
            <a:ext cx="3840480" cy="1463040"/>
          </a:xfrm>
          <a:prstGeom prst="rect">
            <a:avLst/>
          </a:prstGeom>
          <a:solidFill>
            <a:srgbClr val="E5EF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E5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6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84048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arrive, each is read and placed in its slot. What is missing is asked for, in her language.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937760" y="2194560"/>
            <a:ext cx="65836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74920" y="2276856"/>
            <a:ext cx="365760" cy="365760"/>
          </a:xfrm>
          <a:prstGeom prst="rect">
            <a:avLst/>
          </a:prstGeom>
          <a:solidFill>
            <a:srgbClr val="E5EF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623560" y="219456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summary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0241280" y="219456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A5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937760" y="2816352"/>
            <a:ext cx="65836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74920" y="2898648"/>
            <a:ext cx="365760" cy="365760"/>
          </a:xfrm>
          <a:prstGeom prst="rect">
            <a:avLst/>
          </a:prstGeom>
          <a:solidFill>
            <a:srgbClr val="E5EF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623560" y="2816352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bill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0241280" y="2816352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A5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937760" y="3438144"/>
            <a:ext cx="65836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74920" y="3520440"/>
            <a:ext cx="365760" cy="365760"/>
          </a:xfrm>
          <a:prstGeom prst="rect">
            <a:avLst/>
          </a:prstGeom>
          <a:solidFill>
            <a:srgbClr val="E5EF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623560" y="3438144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proof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0241280" y="3438144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A5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937760" y="4059936"/>
            <a:ext cx="65836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74920" y="4142232"/>
            <a:ext cx="365760" cy="365760"/>
          </a:xfrm>
          <a:prstGeom prst="rect">
            <a:avLst/>
          </a:prstGeom>
          <a:solidFill>
            <a:srgbClr val="E5EF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623560" y="4059936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copy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0" y="4059936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A5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937760" y="4681728"/>
            <a:ext cx="65836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074920" y="4764024"/>
            <a:ext cx="365760" cy="365760"/>
          </a:xfrm>
          <a:prstGeom prst="rect">
            <a:avLst/>
          </a:prstGeom>
          <a:solidFill>
            <a:srgbClr val="E5EF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5623560" y="4681728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0241280" y="468172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A5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937760" y="5303520"/>
            <a:ext cx="65836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074920" y="5385816"/>
            <a:ext cx="365760" cy="365760"/>
          </a:xfrm>
          <a:prstGeom prst="rect">
            <a:avLst/>
          </a:prstGeom>
          <a:solidFill>
            <a:srgbClr val="E5EF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5623560" y="530352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form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10241280" y="530352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A5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08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owes the customer an answer?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805672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Praman · प्रमाण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08792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2651760"/>
                <a:gridCol w="2103120"/>
                <a:gridCol w="267919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B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B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Distributor owes it?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B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step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B4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 denied or delayed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5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Insurer's grievance cell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question on the policy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5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Answered in chat, from the policy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Mis-sold or bundled policy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E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5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Distributor (broker)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E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E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Distributor, then insurer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ED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debited twice, refund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E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5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E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E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Distributor's support ticket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ED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or platform issue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E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5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E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E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Distributor's support ticket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ED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servicing, charges, conduct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5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Lender, named in the KFS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Lender, then nodal officer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claim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5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Insurer's claims desk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40080" y="58521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owner has its own ladder and clock. Neither passes through the other's. Windows are UNVERIFIED and badged unless a source is named.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3 · LEVERAGE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08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Denied for non-disclosure, six years in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805672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Praman · प्रमाण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continuous cover (example case)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2743200"/>
            <a:ext cx="5303520" cy="365760"/>
          </a:xfrm>
          <a:prstGeom prst="roundRect">
            <a:avLst>
              <a:gd name="adj" fmla="val 50000"/>
            </a:avLst>
          </a:prstGeom>
          <a:solidFill>
            <a:srgbClr val="D8DDD9"/>
          </a:solidFill>
          <a:ln w="12700">
            <a:solidFill>
              <a:srgbClr val="D8DD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2743200"/>
            <a:ext cx="5303520" cy="365760"/>
          </a:xfrm>
          <a:prstGeom prst="roundRect">
            <a:avLst>
              <a:gd name="adj" fmla="val 50000"/>
            </a:avLst>
          </a:prstGeom>
          <a:solidFill>
            <a:srgbClr val="1E5B4C"/>
          </a:solidFill>
          <a:ln w="12700">
            <a:solidFill>
              <a:srgbClr val="1E5B4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59680" y="2560320"/>
            <a:ext cx="36576" cy="731520"/>
          </a:xfrm>
          <a:prstGeom prst="rect">
            <a:avLst/>
          </a:prstGeom>
          <a:solidFill>
            <a:srgbClr val="A8321F"/>
          </a:solidFill>
          <a:ln w="12700">
            <a:solidFill>
              <a:srgbClr val="A8321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236720" y="3337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months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212080" y="22402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5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931920"/>
            <a:ext cx="5303520" cy="1463040"/>
          </a:xfrm>
          <a:prstGeom prst="rect">
            <a:avLst/>
          </a:prstGeom>
          <a:solidFill>
            <a:srgbClr val="E5EFEA"/>
          </a:solidFill>
          <a:ln/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found. </a:t>
            </a:r>
            <a:pPr indent="0" marL="0">
              <a:buNone/>
            </a:pPr>
            <a:r>
              <a:rPr lang="en-US" sz="1600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60 months of continuous cover the insurer cannot reject for non-disclosure unless it proves fraud.  [Not yet verified]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309360" y="2011680"/>
            <a:ext cx="521208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537960" y="214884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· read back in the customer's language</a:t>
            </a:r>
            <a:endParaRPr lang="en-US" sz="11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 Example General Insurance Company Ltd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500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been continuously covered for 72 months. After 60 months of continuous cover, a claim cannot be rejected for non-disclosure unless fraud is proved. Please review the rejection of my claim on this basis.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537960" y="5029200"/>
            <a:ext cx="1463040" cy="457200"/>
          </a:xfrm>
          <a:prstGeom prst="rect">
            <a:avLst/>
          </a:prstGeom>
          <a:solidFill>
            <a:srgbClr val="1E5B4C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5029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approves.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SHE APPROVES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08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Praman decides what. n8n decides when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805672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Praman · प्रमाण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640080" y="2011680"/>
            <a:ext cx="3453384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2286000"/>
            <a:ext cx="548640" cy="548640"/>
          </a:xfrm>
          <a:prstGeom prst="ellipse">
            <a:avLst/>
          </a:prstGeom>
          <a:solidFill>
            <a:srgbClr val="E5EFEA"/>
          </a:solidFill>
          <a:ln w="12700">
            <a:solidFill>
              <a:srgbClr val="E5EF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971800"/>
            <a:ext cx="2904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Approve, and agree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703320"/>
            <a:ext cx="2904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approves the letter and agrees to Praman contacting the insurer for her. Without both, nothing leaves. Until then the screen says "Approved and ready to send".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4367784" y="2011680"/>
            <a:ext cx="3453384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42104" y="2286000"/>
            <a:ext cx="548640" cy="548640"/>
          </a:xfrm>
          <a:prstGeom prst="ellipse">
            <a:avLst/>
          </a:prstGeom>
          <a:solidFill>
            <a:srgbClr val="E5EFEA"/>
          </a:solidFill>
          <a:ln w="12700">
            <a:solidFill>
              <a:srgbClr val="E5EF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42104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642104" y="2971800"/>
            <a:ext cx="2904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n8n delivers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4642104" y="3703320"/>
            <a:ext cx="2904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letter goes out with account, Aadhaar, PAN and policy numbers masked, signed with a shared secret. n8n sends it and reports back. Only then is it marked sent.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8095488" y="2011680"/>
            <a:ext cx="3453384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369808" y="2286000"/>
            <a:ext cx="548640" cy="548640"/>
          </a:xfrm>
          <a:prstGeom prst="ellipse">
            <a:avLst/>
          </a:prstGeom>
          <a:solidFill>
            <a:srgbClr val="E5EFEA"/>
          </a:solidFill>
          <a:ln w="12700">
            <a:solidFill>
              <a:srgbClr val="E5EF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69808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8369808" y="2971800"/>
            <a:ext cx="2904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n8n watches the clock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8369808" y="3703320"/>
            <a:ext cx="2904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waits out that step's window, then asks Praman what is due. The case's own ladder answers: escalate, ask an agent, wait or stop. The agent gets an email, she gets a nudge.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5577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wording: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2651760" y="5577840"/>
            <a:ext cx="3141878" cy="365760"/>
          </a:xfrm>
          <a:prstGeom prst="rect">
            <a:avLst/>
          </a:prstGeom>
          <a:solidFill>
            <a:srgbClr val="E5EFEA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"sent" = n8n reported it went out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930798" y="5577840"/>
            <a:ext cx="2973629" cy="365760"/>
          </a:xfrm>
          <a:prstGeom prst="rect">
            <a:avLst/>
          </a:prstGeom>
          <a:solidFill>
            <a:srgbClr val="F8E8E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"the insurer received it"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9041587" y="5577840"/>
            <a:ext cx="2721254" cy="365760"/>
          </a:xfrm>
          <a:prstGeom prst="rect">
            <a:avLst/>
          </a:prstGeom>
          <a:solidFill>
            <a:srgbClr val="F8EEDC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5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if resolved or deleted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SHE ASKS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08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premium reminder, only if she wants one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805672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Praman · प्रमाण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640080" y="2103120"/>
            <a:ext cx="2521458" cy="3108960"/>
          </a:xfrm>
          <a:prstGeom prst="roundRect">
            <a:avLst>
              <a:gd name="adj" fmla="val 3626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2377440"/>
            <a:ext cx="548640" cy="548640"/>
          </a:xfrm>
          <a:prstGeom prst="ellipse">
            <a:avLst/>
          </a:prstGeom>
          <a:solidFill>
            <a:srgbClr val="E5EFEA"/>
          </a:solidFill>
          <a:ln w="12700">
            <a:solidFill>
              <a:srgbClr val="E5EF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063240"/>
            <a:ext cx="1972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 asks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794760"/>
            <a:ext cx="19728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"Remind me to pay my premium", in the chat, in her language.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3435858" y="2103120"/>
            <a:ext cx="2521458" cy="3108960"/>
          </a:xfrm>
          <a:prstGeom prst="roundRect">
            <a:avLst>
              <a:gd name="adj" fmla="val 3626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710178" y="2377440"/>
            <a:ext cx="548640" cy="548640"/>
          </a:xfrm>
          <a:prstGeom prst="ellipse">
            <a:avLst/>
          </a:prstGeom>
          <a:solidFill>
            <a:srgbClr val="E5EFEA"/>
          </a:solidFill>
          <a:ln w="12700">
            <a:solidFill>
              <a:srgbClr val="E5EF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10178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3710178" y="3063240"/>
            <a:ext cx="1972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 confirms the date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3710178" y="3794760"/>
            <a:ext cx="19728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Offered from her policy if it shows one, otherwise she types it. Nothing is assumed.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6231636" y="2103120"/>
            <a:ext cx="2521458" cy="3108960"/>
          </a:xfrm>
          <a:prstGeom prst="roundRect">
            <a:avLst>
              <a:gd name="adj" fmla="val 3626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505956" y="2377440"/>
            <a:ext cx="548640" cy="548640"/>
          </a:xfrm>
          <a:prstGeom prst="ellipse">
            <a:avLst/>
          </a:prstGeom>
          <a:solidFill>
            <a:srgbClr val="E5EFEA"/>
          </a:solidFill>
          <a:ln w="12700">
            <a:solidFill>
              <a:srgbClr val="E5EF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05956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6505956" y="3063240"/>
            <a:ext cx="1972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 agrees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6505956" y="3794760"/>
            <a:ext cx="19728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email and the dates go to n8n only with her yes. No policy details, no phone number.</a:t>
            </a:r>
            <a:endParaRPr lang="en-US" sz="1500" dirty="0"/>
          </a:p>
        </p:txBody>
      </p:sp>
      <p:sp>
        <p:nvSpPr>
          <p:cNvPr id="21" name="card"/>
          <p:cNvSpPr/>
          <p:nvPr/>
        </p:nvSpPr>
        <p:spPr>
          <a:xfrm>
            <a:off x="9027414" y="2103120"/>
            <a:ext cx="2521458" cy="3108960"/>
          </a:xfrm>
          <a:prstGeom prst="roundRect">
            <a:avLst>
              <a:gd name="adj" fmla="val 3626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301734" y="2377440"/>
            <a:ext cx="548640" cy="548640"/>
          </a:xfrm>
          <a:prstGeom prst="ellipse">
            <a:avLst/>
          </a:prstGeom>
          <a:solidFill>
            <a:srgbClr val="F8EEDC"/>
          </a:solidFill>
          <a:ln w="12700">
            <a:solidFill>
              <a:srgbClr val="F8EED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301734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5F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9301734" y="3063240"/>
            <a:ext cx="1972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 is reminded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9301734" y="3794760"/>
            <a:ext cx="19728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days and 1 day before. "Stop reminders" cancels it at once.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40080" y="5486400"/>
            <a:ext cx="10908792" cy="685800"/>
          </a:xfrm>
          <a:prstGeom prst="roundRect">
            <a:avLst>
              <a:gd name="adj" fmla="val 10667"/>
            </a:avLst>
          </a:prstGeom>
          <a:solidFill>
            <a:srgbClr val="164537"/>
          </a:solidFill>
          <a:ln w="12700">
            <a:solidFill>
              <a:srgbClr val="16453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548640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email says the premium may be due. Praman cannot see payments.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8503920" y="5614416"/>
            <a:ext cx="2770632" cy="429768"/>
          </a:xfrm>
          <a:prstGeom prst="rect">
            <a:avLst/>
          </a:prstGeom>
          <a:solidFill>
            <a:srgbClr val="1E5B4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"overdue", never "paid"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DISTRIBUTOR'S VIEW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08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Cases and complaints, in one console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805672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Praman · प्रमाण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3840480" cy="3840480"/>
          </a:xfrm>
          <a:prstGeom prst="roundRect">
            <a:avLst>
              <a:gd name="adj" fmla="val 2381"/>
            </a:avLst>
          </a:prstGeom>
          <a:solidFill>
            <a:srgbClr val="164537"/>
          </a:solidFill>
          <a:ln w="12700">
            <a:solidFill>
              <a:srgbClr val="16453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2148840"/>
            <a:ext cx="3383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FD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· EXAMPLE CASE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waiting for a person.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3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when the chat could not settle it.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9D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"View brief" on every case: one English screen for the agent with the problem, her words, Praman's answers, the papers and the next step. No phone number, no file names.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2011680"/>
            <a:ext cx="68580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00600" y="20116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· coverage question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20116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Insurer: Example General Insurance · file with a known deduction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0" y="2258568"/>
            <a:ext cx="1371600" cy="365760"/>
          </a:xfrm>
          <a:prstGeom prst="rect">
            <a:avLst/>
          </a:prstGeom>
          <a:solidFill>
            <a:srgbClr val="E5EFEA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away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2990088"/>
            <a:ext cx="68580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00600" y="299008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Non-disclosure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· claim denied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0" y="299008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Insurer: Example General Insurance · moratorium ground, draft ready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0" y="3236976"/>
            <a:ext cx="1371600" cy="365760"/>
          </a:xfrm>
          <a:prstGeom prst="rect">
            <a:avLst/>
          </a:prstGeom>
          <a:solidFill>
            <a:srgbClr val="E5EFEA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away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63440" y="3968496"/>
            <a:ext cx="68580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00600" y="3968496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debit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payment failed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583680" y="3968496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· support ticket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0" y="4215384"/>
            <a:ext cx="1371600" cy="365760"/>
          </a:xfrm>
          <a:prstGeom prst="rect">
            <a:avLst/>
          </a:prstGeom>
          <a:solidFill>
            <a:srgbClr val="F8EEDC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5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distributor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663440" y="4946904"/>
            <a:ext cx="68580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800600" y="4946904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C-12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· claim denied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583680" y="4946904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claim was rejected after six years." Reach her on +91******3210 · policy ending 6789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058400" y="5193792"/>
            <a:ext cx="1371600" cy="365760"/>
          </a:xfrm>
          <a:prstGeom prst="rect">
            <a:avLst/>
          </a:prstGeom>
          <a:solidFill>
            <a:srgbClr val="F8E8E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45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FD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LANGUAGE, OWN VOICE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08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2F6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site speaks 11 languages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805672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D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Praman · प्रमाण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1463040" cy="960120"/>
          </a:xfrm>
          <a:prstGeom prst="roundRect">
            <a:avLst>
              <a:gd name="adj" fmla="val 9524"/>
            </a:avLst>
          </a:prstGeom>
          <a:solidFill>
            <a:srgbClr val="1E5B4C"/>
          </a:solidFill>
          <a:ln w="12700">
            <a:solidFill>
              <a:srgbClr val="3F857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103120"/>
            <a:ext cx="1463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D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2240280" y="2103120"/>
            <a:ext cx="1463040" cy="960120"/>
          </a:xfrm>
          <a:prstGeom prst="roundRect">
            <a:avLst>
              <a:gd name="adj" fmla="val 9524"/>
            </a:avLst>
          </a:prstGeom>
          <a:solidFill>
            <a:srgbClr val="1E5B4C"/>
          </a:solidFill>
          <a:ln w="12700">
            <a:solidFill>
              <a:srgbClr val="3F857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240280" y="2103120"/>
            <a:ext cx="1463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हिन्दी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D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840480" y="2103120"/>
            <a:ext cx="1463040" cy="960120"/>
          </a:xfrm>
          <a:prstGeom prst="roundRect">
            <a:avLst>
              <a:gd name="adj" fmla="val 9524"/>
            </a:avLst>
          </a:prstGeom>
          <a:solidFill>
            <a:srgbClr val="1E5B4C"/>
          </a:solidFill>
          <a:ln w="12700">
            <a:solidFill>
              <a:srgbClr val="3F857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40480" y="2103120"/>
            <a:ext cx="1463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मराठी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D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40680" y="2103120"/>
            <a:ext cx="1463040" cy="960120"/>
          </a:xfrm>
          <a:prstGeom prst="roundRect">
            <a:avLst>
              <a:gd name="adj" fmla="val 9524"/>
            </a:avLst>
          </a:prstGeom>
          <a:solidFill>
            <a:srgbClr val="1E5B4C"/>
          </a:solidFill>
          <a:ln w="12700">
            <a:solidFill>
              <a:srgbClr val="3F857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40680" y="2103120"/>
            <a:ext cx="1463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বাংলা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D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40080" y="3246120"/>
            <a:ext cx="1463040" cy="960120"/>
          </a:xfrm>
          <a:prstGeom prst="roundRect">
            <a:avLst>
              <a:gd name="adj" fmla="val 9524"/>
            </a:avLst>
          </a:prstGeom>
          <a:solidFill>
            <a:srgbClr val="1E5B4C"/>
          </a:solidFill>
          <a:ln w="12700">
            <a:solidFill>
              <a:srgbClr val="3F857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3246120"/>
            <a:ext cx="1463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தமிழ்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D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2240280" y="3246120"/>
            <a:ext cx="1463040" cy="960120"/>
          </a:xfrm>
          <a:prstGeom prst="roundRect">
            <a:avLst>
              <a:gd name="adj" fmla="val 9524"/>
            </a:avLst>
          </a:prstGeom>
          <a:solidFill>
            <a:srgbClr val="1E5B4C"/>
          </a:solidFill>
          <a:ln w="12700">
            <a:solidFill>
              <a:srgbClr val="3F857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240280" y="3246120"/>
            <a:ext cx="1463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తెలుగు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D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Telugu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3840480" y="3246120"/>
            <a:ext cx="1463040" cy="960120"/>
          </a:xfrm>
          <a:prstGeom prst="roundRect">
            <a:avLst>
              <a:gd name="adj" fmla="val 9524"/>
            </a:avLst>
          </a:prstGeom>
          <a:solidFill>
            <a:srgbClr val="1E5B4C"/>
          </a:solidFill>
          <a:ln w="12700">
            <a:solidFill>
              <a:srgbClr val="3F857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840480" y="3246120"/>
            <a:ext cx="1463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ગુજરાતી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D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Gujarati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5440680" y="3246120"/>
            <a:ext cx="1463040" cy="960120"/>
          </a:xfrm>
          <a:prstGeom prst="roundRect">
            <a:avLst>
              <a:gd name="adj" fmla="val 9524"/>
            </a:avLst>
          </a:prstGeom>
          <a:solidFill>
            <a:srgbClr val="1E5B4C"/>
          </a:solidFill>
          <a:ln w="12700">
            <a:solidFill>
              <a:srgbClr val="3F857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40680" y="3246120"/>
            <a:ext cx="1463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ಕನ್ನಡ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D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Kannada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640080" y="4389120"/>
            <a:ext cx="1463040" cy="960120"/>
          </a:xfrm>
          <a:prstGeom prst="roundRect">
            <a:avLst>
              <a:gd name="adj" fmla="val 9524"/>
            </a:avLst>
          </a:prstGeom>
          <a:solidFill>
            <a:srgbClr val="1E5B4C"/>
          </a:solidFill>
          <a:ln w="12700">
            <a:solidFill>
              <a:srgbClr val="3F857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" y="4389120"/>
            <a:ext cx="1463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മലയാളം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D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Malayalam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2240280" y="4389120"/>
            <a:ext cx="1463040" cy="960120"/>
          </a:xfrm>
          <a:prstGeom prst="roundRect">
            <a:avLst>
              <a:gd name="adj" fmla="val 9524"/>
            </a:avLst>
          </a:prstGeom>
          <a:solidFill>
            <a:srgbClr val="1E5B4C"/>
          </a:solidFill>
          <a:ln w="12700">
            <a:solidFill>
              <a:srgbClr val="3F857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240280" y="4389120"/>
            <a:ext cx="1463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ਪੰਜਾਬੀ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D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Punjabi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3840480" y="4389120"/>
            <a:ext cx="1463040" cy="960120"/>
          </a:xfrm>
          <a:prstGeom prst="roundRect">
            <a:avLst>
              <a:gd name="adj" fmla="val 9524"/>
            </a:avLst>
          </a:prstGeom>
          <a:solidFill>
            <a:srgbClr val="1E5B4C"/>
          </a:solidFill>
          <a:ln w="12700">
            <a:solidFill>
              <a:srgbClr val="3F857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840480" y="4389120"/>
            <a:ext cx="1463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ଓଡ଼ିଆ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D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Odia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7406640" y="210312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1F5A4B"/>
          </a:solidFill>
          <a:ln w="12700">
            <a:solidFill>
              <a:srgbClr val="3F857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589520" y="210312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Speak. </a:t>
            </a:r>
            <a:pPr indent="0" marL="0">
              <a:buNone/>
            </a:pPr>
            <a:r>
              <a:rPr lang="en-US" sz="1400" dirty="0">
                <a:solidFill>
                  <a:srgbClr val="D5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 note becomes text in the box, to check before sending.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7406640" y="329184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1F5A4B"/>
          </a:solidFill>
          <a:ln w="12700">
            <a:solidFill>
              <a:srgbClr val="3F857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589520" y="329184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Praman answers aloud. </a:t>
            </a:r>
            <a:pPr indent="0" marL="0">
              <a:buNone/>
            </a:pPr>
            <a:r>
              <a:rPr lang="en-US" sz="1400" dirty="0">
                <a:solidFill>
                  <a:srgbClr val="D5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reply can be spoken back in the customer's language.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7406640" y="448056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1F5A4B"/>
          </a:solidFill>
          <a:ln w="12700">
            <a:solidFill>
              <a:srgbClr val="3F8573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589520" y="448056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phone too. </a:t>
            </a:r>
            <a:pPr indent="0" marL="0">
              <a:buNone/>
            </a:pPr>
            <a:r>
              <a:rPr lang="en-US" sz="1400" dirty="0">
                <a:solidFill>
                  <a:srgbClr val="D5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 agent speaks her language on a call.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40080" y="5669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2651760" y="5669280"/>
            <a:ext cx="1880006" cy="365760"/>
          </a:xfrm>
          <a:prstGeom prst="rect">
            <a:avLst/>
          </a:prstGeom>
          <a:solidFill>
            <a:srgbClr val="E5EFEA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amounts held fixed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4668926" y="5669280"/>
            <a:ext cx="1711757" cy="365760"/>
          </a:xfrm>
          <a:prstGeom prst="rect">
            <a:avLst/>
          </a:prstGeom>
          <a:solidFill>
            <a:srgbClr val="E5EFEA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held fixed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6517843" y="5669280"/>
            <a:ext cx="3310128" cy="365760"/>
          </a:xfrm>
          <a:prstGeom prst="rect">
            <a:avLst/>
          </a:prstGeom>
          <a:solidFill>
            <a:srgbClr val="E5EFEA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Praman is never translated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BY CONSTRUCTION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08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bills deserve careful hands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805672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Praman · प्रमाण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212848"/>
            <a:ext cx="411480" cy="411480"/>
          </a:xfrm>
          <a:prstGeom prst="ellipse">
            <a:avLst/>
          </a:prstGeom>
          <a:solidFill>
            <a:srgbClr val="E5EFEA"/>
          </a:solidFill>
          <a:ln w="12700">
            <a:solidFill>
              <a:srgbClr val="E5EF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2212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 first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78892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document is read until the customer says yes, in their language.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43400" y="201168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0" y="2212848"/>
            <a:ext cx="411480" cy="411480"/>
          </a:xfrm>
          <a:prstGeom prst="ellipse">
            <a:avLst/>
          </a:prstGeom>
          <a:solidFill>
            <a:srgbClr val="E5EFEA"/>
          </a:solidFill>
          <a:ln w="12700">
            <a:solidFill>
              <a:srgbClr val="E5EF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0" y="2212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12064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Masked before it leaves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278892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Aadhaar, PAN, account and policy numbers are masked in all text sent for AI processing.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046720" y="201168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275320" y="2212848"/>
            <a:ext cx="411480" cy="411480"/>
          </a:xfrm>
          <a:prstGeom prst="ellipse">
            <a:avLst/>
          </a:prstGeom>
          <a:solidFill>
            <a:srgbClr val="E5EFEA"/>
          </a:solidFill>
          <a:ln w="12700">
            <a:solidFill>
              <a:srgbClr val="E5EF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75320" y="2212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82396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Fields, not files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275320" y="278892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keep extracted fields. The original is not kept unless the customer asks.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40233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68680" y="4224528"/>
            <a:ext cx="411480" cy="411480"/>
          </a:xfrm>
          <a:prstGeom prst="ellipse">
            <a:avLst/>
          </a:prstGeom>
          <a:solidFill>
            <a:srgbClr val="E5EFEA"/>
          </a:solidFill>
          <a:ln w="12700">
            <a:solidFill>
              <a:srgbClr val="E5EF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68680" y="4224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417320" y="4206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"Delete everything" works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868680" y="48006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Case, documents, letters and events, including from the console.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343400" y="40233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572000" y="4224528"/>
            <a:ext cx="411480" cy="411480"/>
          </a:xfrm>
          <a:prstGeom prst="ellipse">
            <a:avLst/>
          </a:prstGeom>
          <a:solidFill>
            <a:srgbClr val="F8EEDC"/>
          </a:solidFill>
          <a:ln w="12700">
            <a:solidFill>
              <a:srgbClr val="F8EED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72000" y="4224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5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5120640" y="4206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or badged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4572000" y="48006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legal value carries verified_by. Until a named person checks it, it shows "Not yet verified".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8046720" y="40233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275320" y="4224528"/>
            <a:ext cx="411480" cy="411480"/>
          </a:xfrm>
          <a:prstGeom prst="ellipse">
            <a:avLst/>
          </a:prstGeom>
          <a:solidFill>
            <a:srgbClr val="E5EFEA"/>
          </a:solidFill>
          <a:ln w="12700">
            <a:solidFill>
              <a:srgbClr val="E5EFE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275320" y="4224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8823960" y="4206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is filed</a:t>
            </a:r>
            <a:endParaRPr lang="en-US" sz="1700" dirty="0"/>
          </a:p>
        </p:txBody>
      </p:sp>
      <p:sp>
        <p:nvSpPr>
          <p:cNvPr id="35" name="Text 32"/>
          <p:cNvSpPr txBox="1"/>
          <p:nvPr/>
        </p:nvSpPr>
        <p:spPr>
          <a:xfrm>
            <a:off x="8275320" y="48006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Praman drafts. The customer approves. The screen says "Approved and ready to send" until n8n reports it went out.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 TODAY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08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C2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Built, tested, and honest about the rest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805672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Praman · प्रमाण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E5EFEA"/>
          </a:solidFill>
          <a:ln w="12700">
            <a:solidFill>
              <a:srgbClr val="E5EF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011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5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1206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7432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tests, all passing, none touching the network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01568" y="19659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E5EFEA"/>
          </a:solidFill>
          <a:ln w="12700">
            <a:solidFill>
              <a:srgbClr val="E5EF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01568" y="2011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5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3584448" y="27432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rules, each with blocked, clear and missing-fact tests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63056" y="19659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E5EFEA"/>
          </a:solidFill>
          <a:ln w="12700">
            <a:solidFill>
              <a:srgbClr val="E5EF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163056" y="2011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5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400" dirty="0"/>
          </a:p>
        </p:txBody>
      </p:sp>
      <p:sp>
        <p:nvSpPr>
          <p:cNvPr id="14" name="Text 11"/>
          <p:cNvSpPr txBox="1"/>
          <p:nvPr/>
        </p:nvSpPr>
        <p:spPr>
          <a:xfrm>
            <a:off x="6345936" y="27432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across the site, voice in and out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924544" y="19659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E5EFEA"/>
          </a:solidFill>
          <a:ln w="12700">
            <a:solidFill>
              <a:srgbClr val="E5EF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924544" y="2011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5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7" name="Text 14"/>
          <p:cNvSpPr txBox="1"/>
          <p:nvPr/>
        </p:nvSpPr>
        <p:spPr>
          <a:xfrm>
            <a:off x="9107424" y="27432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verdicts: file, do not file yet, file with a known deduction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0080" y="3749040"/>
            <a:ext cx="5394960" cy="2423160"/>
          </a:xfrm>
          <a:prstGeom prst="roundRect">
            <a:avLst>
              <a:gd name="adj" fmla="val 3774"/>
            </a:avLst>
          </a:prstGeom>
          <a:solidFill>
            <a:srgbClr val="E5EFEA"/>
          </a:solidFill>
          <a:ln w="12700">
            <a:solidFill>
              <a:srgbClr val="E5EFE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8680" y="3840480"/>
            <a:ext cx="49377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5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engine, router, checklist, drafts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start options on web, WhatsApp and phone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checks and a bill split, before filing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 delivered and followed up through n8n, with consent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reminders by email, only when asked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Q&amp;A with citations, voice, 11 languages, a complaints console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217920" y="3749040"/>
            <a:ext cx="5394960" cy="2423160"/>
          </a:xfrm>
          <a:prstGeom prst="roundRect">
            <a:avLst>
              <a:gd name="adj" fmla="val 3774"/>
            </a:avLst>
          </a:prstGeom>
          <a:solidFill>
            <a:srgbClr val="F8EEDC"/>
          </a:solidFill>
          <a:ln w="12700">
            <a:solidFill>
              <a:srgbClr val="F8EED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46520" y="3840480"/>
            <a:ext cx="49377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9A5F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Next, not claimed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"fair offer" ruleset: same engine, one YAML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ruleset and claim-deadline rules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insurer delivery addresses: today's adapters are examples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C2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Hand-checking every UNVERIFIED value against its source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645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FD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PRAMAN · प्रमाण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805672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D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Praman · प्रमाण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0116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the rejection before it happens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114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send every question to the party that owes the answer.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120640"/>
            <a:ext cx="2011680" cy="411480"/>
          </a:xfrm>
          <a:prstGeom prst="rect">
            <a:avLst/>
          </a:prstGeom>
          <a:solidFill>
            <a:srgbClr val="1E5B4C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HackOverFlow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2788920" y="5120640"/>
            <a:ext cx="2011680" cy="411480"/>
          </a:xfrm>
          <a:prstGeom prst="rect">
            <a:avLst/>
          </a:prstGeom>
          <a:solidFill>
            <a:srgbClr val="1E5B4C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Rithvik Shetty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937760" y="5120640"/>
            <a:ext cx="2011680" cy="411480"/>
          </a:xfrm>
          <a:prstGeom prst="rect">
            <a:avLst/>
          </a:prstGeom>
          <a:solidFill>
            <a:srgbClr val="1E5B4C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Vinay Pokharkar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59893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Paytm Build for India hackathon (AI-Powered Financial Journeys track). Not affiliated with or endorsed by Paytm.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62636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Prototype. Example data. Nothing is filed; a letter goes out only after approval and consent.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Praman: pitch deck</dc:title>
  <dc:subject>PptxGenJS Presentation</dc:subject>
  <dc:creator>Team HackOverFlow</dc:creator>
  <cp:lastModifiedBy>Team HackOverFlow</cp:lastModifiedBy>
  <cp:revision>1</cp:revision>
  <dcterms:created xsi:type="dcterms:W3CDTF">2026-10-05T07:30:54Z</dcterms:created>
  <dcterms:modified xsi:type="dcterms:W3CDTF">2026-10-05T07:30:54Z</dcterms:modified>
</cp:coreProperties>
</file>